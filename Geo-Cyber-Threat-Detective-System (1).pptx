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Fira Sans SemiBold"/>
      <p:regular r:id="rId16"/>
      <p:bold r:id="rId17"/>
      <p:italic r:id="rId18"/>
      <p:boldItalic r:id="rId19"/>
    </p:embeddedFont>
    <p:embeddedFont>
      <p:font typeface="Fira Sans"/>
      <p:regular r:id="rId20"/>
      <p:bold r:id="rId21"/>
      <p:italic r:id="rId22"/>
      <p:boldItalic r:id="rId23"/>
    </p:embeddedFont>
    <p:embeddedFont>
      <p:font typeface="Encode Sans Semi Condensed SemiBold"/>
      <p:regular r:id="rId24"/>
      <p:bold r:id="rId25"/>
    </p:embeddedFont>
    <p:embeddedFont>
      <p:font typeface="Overpass Mono Medium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49TIOiIOrbF/pFneNsqNjpq+g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regular.fntdata"/><Relationship Id="rId22" Type="http://schemas.openxmlformats.org/officeDocument/2006/relationships/font" Target="fonts/FiraSans-italic.fntdata"/><Relationship Id="rId21" Type="http://schemas.openxmlformats.org/officeDocument/2006/relationships/font" Target="fonts/FiraSans-bold.fntdata"/><Relationship Id="rId24" Type="http://schemas.openxmlformats.org/officeDocument/2006/relationships/font" Target="fonts/EncodeSansSemiCondensedSemiBold-regular.fntdata"/><Relationship Id="rId23" Type="http://schemas.openxmlformats.org/officeDocument/2006/relationships/font" Target="fonts/Fira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MonoMedium-regular.fntdata"/><Relationship Id="rId25" Type="http://schemas.openxmlformats.org/officeDocument/2006/relationships/font" Target="fonts/EncodeSansSemiCondensedSemiBold-bold.fntdata"/><Relationship Id="rId28" Type="http://customschemas.google.com/relationships/presentationmetadata" Target="metadata"/><Relationship Id="rId27" Type="http://schemas.openxmlformats.org/officeDocument/2006/relationships/font" Target="fonts/OverpassMono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FiraSansSemiBold-bold.fntdata"/><Relationship Id="rId16" Type="http://schemas.openxmlformats.org/officeDocument/2006/relationships/font" Target="fonts/FiraSansSemiBold-regular.fntdata"/><Relationship Id="rId19" Type="http://schemas.openxmlformats.org/officeDocument/2006/relationships/font" Target="fonts/FiraSansSemiBold-boldItalic.fntdata"/><Relationship Id="rId18" Type="http://schemas.openxmlformats.org/officeDocument/2006/relationships/font" Target="fonts/Fira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2253b8d39e9902a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2253b8d39e9902a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2253b8d39e9902a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5123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jp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11182" y="609600"/>
            <a:ext cx="6603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FFFFFF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SECURITY OPERATIONS ·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1182" y="2563856"/>
            <a:ext cx="6070448" cy="1398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Encode Sans Semi Condensed SemiBold"/>
              <a:buNone/>
            </a:pPr>
            <a:r>
              <a:rPr b="0" i="0" lang="en-US" spc="-54" sz="54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Geo Cyber Threat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Encode Sans Semi Condensed SemiBold"/>
              <a:buNone/>
            </a:pPr>
            <a:r>
              <a:rPr b="0" i="0" lang="en-US" spc="-54" sz="54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Detective System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1182" y="4096445"/>
            <a:ext cx="6603835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Detect suspicious activity before it becomes an incident.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1182" y="6088559"/>
            <a:ext cx="660383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Fira Sans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 practical security app for earlier signals, clearer severity, and safer investigation.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1375" y="609600"/>
            <a:ext cx="4941125" cy="4941150"/>
          </a:xfrm>
          <a:prstGeom prst="rect">
            <a:avLst/>
          </a:prstGeom>
          <a:solidFill>
            <a:srgbClr val="051230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THE OPERATING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37185" y="946181"/>
            <a:ext cx="10972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Security teams need earlier, clearer signals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Threat data arrives everywhere. The decision still has to happen somewhere.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09585" y="4037806"/>
            <a:ext cx="3454314" cy="2210594"/>
          </a:xfrm>
          <a:prstGeom prst="roundRect">
            <a:avLst>
              <a:gd fmla="val 3981" name="adj"/>
            </a:avLst>
          </a:prstGeom>
          <a:noFill/>
          <a:ln cap="flat" cmpd="sng" w="25375">
            <a:solidFill>
              <a:srgbClr val="1999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63578" y="4291806"/>
            <a:ext cx="294632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Inputs multiply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3578" y="4804172"/>
            <a:ext cx="2946326" cy="8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Threat data arrives through files, emails, URLs, and websites.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68691" y="4037806"/>
            <a:ext cx="3454314" cy="2210594"/>
          </a:xfrm>
          <a:prstGeom prst="roundRect">
            <a:avLst>
              <a:gd fmla="val 3981" name="adj"/>
            </a:avLst>
          </a:prstGeom>
          <a:noFill/>
          <a:ln cap="flat" cmpd="sng" w="25375">
            <a:solidFill>
              <a:srgbClr val="1999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622684" y="4291806"/>
            <a:ext cx="294632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Context fragments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22684" y="4804172"/>
            <a:ext cx="2946326" cy="1190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Analysts need one place to triage risk, understand severity, and decide what to do next.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127797" y="4037806"/>
            <a:ext cx="3454314" cy="2210594"/>
          </a:xfrm>
          <a:prstGeom prst="roundRect">
            <a:avLst>
              <a:gd fmla="val 3981" name="adj"/>
            </a:avLst>
          </a:prstGeom>
          <a:noFill/>
          <a:ln cap="flat" cmpd="sng" w="25375">
            <a:solidFill>
              <a:srgbClr val="1999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381790" y="4291806"/>
            <a:ext cx="294632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Visibility lags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81790" y="4804172"/>
            <a:ext cx="2946326" cy="1190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For IT decision-makers, the gap is operational: too many checks, too little shared visibility.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9675" y="-1"/>
            <a:ext cx="892691" cy="8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711182" y="609600"/>
            <a:ext cx="6603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THE PRODUCT THESIS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11182" y="925068"/>
            <a:ext cx="6095848" cy="969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One workspace for proactive threat investigation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11182" y="2061369"/>
            <a:ext cx="6095848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900"/>
              <a:buFont typeface="Fira Sans"/>
              <a:buNone/>
            </a:pPr>
            <a:r>
              <a:rPr b="0" i="0" lang="en-US" sz="19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Move from isolated checks to a shared risk picture across inputs.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11182" y="4417219"/>
            <a:ext cx="1930352" cy="1881981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939776" y="4621689"/>
            <a:ext cx="1473163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Centralize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39776" y="5050234"/>
            <a:ext cx="1473163" cy="10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Scanning and threat review in a single app experience.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93930" y="4417219"/>
            <a:ext cx="1930352" cy="1881981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022524" y="4621689"/>
            <a:ext cx="1473163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Connect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022524" y="5050234"/>
            <a:ext cx="1473163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Bring suspicious signals into one shared view.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876678" y="4417219"/>
            <a:ext cx="1930352" cy="1881981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105272" y="4621689"/>
            <a:ext cx="1473163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105272" y="5050234"/>
            <a:ext cx="1473163" cy="10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Give teams a faster path from signal to informed action.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15017" y="0"/>
            <a:ext cx="4876800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32422" l="0" r="0" t="33836"/>
          <a:stretch/>
        </p:blipFill>
        <p:spPr>
          <a:xfrm>
            <a:off x="6859375" y="1029625"/>
            <a:ext cx="5332300" cy="338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6476" y="0"/>
            <a:ext cx="685200" cy="685200"/>
          </a:xfrm>
          <a:prstGeom prst="rect">
            <a:avLst/>
          </a:prstGeom>
          <a:solidFill>
            <a:srgbClr val="051230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FIRST MILE OF DEFENSE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Key features cover the first mile of defense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0" y="2284710"/>
            <a:ext cx="2819329" cy="2561530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796" y="2462510"/>
            <a:ext cx="52386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177796" y="3174980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File Scanner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77796" y="3603526"/>
            <a:ext cx="2463738" cy="5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Inspect local files with browser-side checks.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124122" y="2284710"/>
            <a:ext cx="2819329" cy="2561530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1917" y="2462510"/>
            <a:ext cx="52386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3301917" y="3174980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URL Scanner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301917" y="3603526"/>
            <a:ext cx="2463738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Analyze URL structure without opening the destination.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248244" y="2284710"/>
            <a:ext cx="2819329" cy="2561530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6039" y="2462510"/>
            <a:ext cx="52386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6426039" y="3174980"/>
            <a:ext cx="2463738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Email, website, ransomware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426039" y="3884116"/>
            <a:ext cx="2463738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Extend the same investigation model across common attack surfaces.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372366" y="2284710"/>
            <a:ext cx="2819329" cy="2561530"/>
          </a:xfrm>
          <a:prstGeom prst="rect">
            <a:avLst/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550161" y="2867005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Review and follow-up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550161" y="3295551"/>
            <a:ext cx="2463738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Threat Intel, history, alerts, and settings keep work connected.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0" y="5150941"/>
            <a:ext cx="12191695" cy="1707059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9850" y="5150950"/>
            <a:ext cx="9457926" cy="147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30514" y="0"/>
            <a:ext cx="561175" cy="5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7315017" y="0"/>
            <a:ext cx="4876800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11182" y="533400"/>
            <a:ext cx="113789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DETECTION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11182" y="848868"/>
            <a:ext cx="10769331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Real-time detection turns inputs into risk signals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11182" y="1500584"/>
            <a:ext cx="11378915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 transparent, explainable loop makes the result easier to trust and act 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942952" y="2382242"/>
            <a:ext cx="1231770" cy="762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098722" y="2331541"/>
            <a:ext cx="152396" cy="1778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11182" y="2102941"/>
            <a:ext cx="634984" cy="635000"/>
          </a:xfrm>
          <a:prstGeom prst="ellipse">
            <a:avLst/>
          </a:prstGeom>
          <a:solidFill>
            <a:srgbClr val="FFFFFF"/>
          </a:solidFill>
          <a:ln cap="flat" cmpd="sng" w="38075">
            <a:solidFill>
              <a:srgbClr val="0097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42247" y="2236291"/>
            <a:ext cx="98234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51230"/>
              </a:buClr>
              <a:buSzPts val="2900"/>
              <a:buFont typeface="Fira Sans SemiBold"/>
              <a:buNone/>
            </a:pPr>
            <a:r>
              <a:rPr b="0" i="0" lang="en-US" sz="2900" u="none" cap="none" strike="noStrike">
                <a:solidFill>
                  <a:srgbClr val="05123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01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11182" y="2821781"/>
            <a:ext cx="2463738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11182" y="2967811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Collect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1182" y="3396357"/>
            <a:ext cx="2463738" cy="5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 file, URL, email, or website input enters the workflow.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479713" y="2382242"/>
            <a:ext cx="2463738" cy="762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867253" y="2331541"/>
            <a:ext cx="152396" cy="1778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479713" y="2102941"/>
            <a:ext cx="634984" cy="635000"/>
          </a:xfrm>
          <a:prstGeom prst="ellipse">
            <a:avLst/>
          </a:prstGeom>
          <a:solidFill>
            <a:srgbClr val="FFFFFF"/>
          </a:solidFill>
          <a:ln cap="flat" cmpd="sng" w="38075">
            <a:solidFill>
              <a:srgbClr val="0097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598276" y="2236291"/>
            <a:ext cx="100734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51230"/>
              </a:buClr>
              <a:buSzPts val="2900"/>
              <a:buFont typeface="Fira Sans SemiBold"/>
              <a:buNone/>
            </a:pPr>
            <a:r>
              <a:rPr b="0" i="0" lang="en-US" sz="2900" u="none" cap="none" strike="noStrike">
                <a:solidFill>
                  <a:srgbClr val="05123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479713" y="2821781"/>
            <a:ext cx="2463738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479713" y="2967811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Analyze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479713" y="3396357"/>
            <a:ext cx="2463738" cy="5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appropriate analysis path runs against the input.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48244" y="2382242"/>
            <a:ext cx="2463738" cy="762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635784" y="2331541"/>
            <a:ext cx="152396" cy="1778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248244" y="2102941"/>
            <a:ext cx="634984" cy="635000"/>
          </a:xfrm>
          <a:prstGeom prst="ellipse">
            <a:avLst/>
          </a:prstGeom>
          <a:solidFill>
            <a:srgbClr val="FFFFFF"/>
          </a:solidFill>
          <a:ln cap="flat" cmpd="sng" w="38075">
            <a:solidFill>
              <a:srgbClr val="0097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366113" y="2236291"/>
            <a:ext cx="1008831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51230"/>
              </a:buClr>
              <a:buSzPts val="2900"/>
              <a:buFont typeface="Fira Sans SemiBold"/>
              <a:buNone/>
            </a:pPr>
            <a:r>
              <a:rPr b="0" i="0" lang="en-US" sz="2900" u="none" cap="none" strike="noStrike">
                <a:solidFill>
                  <a:srgbClr val="05123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03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248244" y="2821781"/>
            <a:ext cx="2463738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248244" y="2967811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Classify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248244" y="3396357"/>
            <a:ext cx="2463738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result is normalized into severity bands from safe to critical.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016774" y="2382242"/>
            <a:ext cx="1231770" cy="7620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016774" y="2102941"/>
            <a:ext cx="634984" cy="635000"/>
          </a:xfrm>
          <a:prstGeom prst="ellipse">
            <a:avLst/>
          </a:prstGeom>
          <a:solidFill>
            <a:srgbClr val="FFFFFF"/>
          </a:solidFill>
          <a:ln cap="flat" cmpd="sng" w="38075">
            <a:solidFill>
              <a:srgbClr val="0097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125019" y="2236291"/>
            <a:ext cx="102798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51230"/>
              </a:buClr>
              <a:buSzPts val="2900"/>
              <a:buFont typeface="Fira Sans SemiBold"/>
              <a:buNone/>
            </a:pPr>
            <a:r>
              <a:rPr b="0" i="0" lang="en-US" sz="2900" u="none" cap="none" strike="noStrike">
                <a:solidFill>
                  <a:srgbClr val="05123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016774" y="2821781"/>
            <a:ext cx="2463738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016774" y="2967811"/>
            <a:ext cx="2463738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Surface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016774" y="3396357"/>
            <a:ext cx="2463738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dashboard makes the result available for triage, history, and alerts.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11182" y="5528568"/>
            <a:ext cx="10769331" cy="821432"/>
          </a:xfrm>
          <a:prstGeom prst="roundRect">
            <a:avLst>
              <a:gd fmla="val 10714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20727" y="5790505"/>
            <a:ext cx="10959826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ira Sans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Design principle: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show how the signal was produced. Do not make detection a black box.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764" y="6350000"/>
            <a:ext cx="522900" cy="5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7315017" y="0"/>
            <a:ext cx="4876800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/at_11.25.54_AM-removebg-preview.png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11182" y="508000"/>
            <a:ext cx="113789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PRODUCT WALKTHROUGH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11182" y="823468"/>
            <a:ext cx="10769331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The interface makes investigation feel immediate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11182" y="1475184"/>
            <a:ext cx="11378915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Common scans start from the dashboard, then open into focused analysis surfaces.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0" y="3429000"/>
            <a:ext cx="5943451" cy="1822549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6" y="3581400"/>
            <a:ext cx="5638659" cy="117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52396" y="4888409"/>
            <a:ext cx="579105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Fira Sans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File Scanner · choose a file and analyze it locally in the browser.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48244" y="3429000"/>
            <a:ext cx="5943451" cy="1822549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840" y="3369100"/>
            <a:ext cx="5638658" cy="117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6400640" y="4888409"/>
            <a:ext cx="579105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Fira Sans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URL Scanner · submit a URL for structural analysis without opening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465" y="5703350"/>
            <a:ext cx="1108975" cy="11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02448" y="5967575"/>
            <a:ext cx="890425" cy="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2715" y="5859650"/>
            <a:ext cx="1108975" cy="11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5115" y="6012050"/>
            <a:ext cx="1108975" cy="11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87839" y="6454175"/>
            <a:ext cx="403825" cy="40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40239" y="6606575"/>
            <a:ext cx="403825" cy="4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7315017" y="0"/>
            <a:ext cx="4876800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BUYER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Buyers get visibility without adding workflow friction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value is operational: faster first-pass decisions and a shared language for risk.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09585" y="3408958"/>
            <a:ext cx="2514537" cy="2839442"/>
          </a:xfrm>
          <a:prstGeom prst="roundRect">
            <a:avLst>
              <a:gd fmla="val 3500" name="adj"/>
            </a:avLst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838179" y="3721124"/>
            <a:ext cx="2057349" cy="40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3000"/>
              <a:buFont typeface="Encode Sans Semi Condensed SemiBold"/>
              <a:buNone/>
            </a:pPr>
            <a:r>
              <a:rPr b="0" i="0" lang="en-US" spc="-30" sz="3000" u="none" cap="none" strike="noStrike">
                <a:solidFill>
                  <a:srgbClr val="C9CFE0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38179" y="4214098"/>
            <a:ext cx="2057349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Faster triage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38179" y="4642644"/>
            <a:ext cx="2057349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Speed up first-pass review for common suspicious inputs.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428914" y="3408958"/>
            <a:ext cx="2514537" cy="2839442"/>
          </a:xfrm>
          <a:prstGeom prst="roundRect">
            <a:avLst>
              <a:gd fmla="val 3500" name="adj"/>
            </a:avLst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509" y="3721124"/>
            <a:ext cx="2057349" cy="40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3000"/>
              <a:buFont typeface="Encode Sans Semi Condensed SemiBold"/>
              <a:buNone/>
            </a:pPr>
            <a:r>
              <a:rPr b="0" i="0" lang="en-US" spc="-30" sz="3000" u="none" cap="none" strike="noStrike">
                <a:solidFill>
                  <a:srgbClr val="C9CFE0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657509" y="4214098"/>
            <a:ext cx="2057349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Shared severity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657509" y="4642644"/>
            <a:ext cx="2057349" cy="5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Use one language, from safe to critical.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248244" y="3408958"/>
            <a:ext cx="2514537" cy="2839442"/>
          </a:xfrm>
          <a:prstGeom prst="roundRect">
            <a:avLst>
              <a:gd fmla="val 3500" name="adj"/>
            </a:avLst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76838" y="3721124"/>
            <a:ext cx="2057349" cy="40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3000"/>
              <a:buFont typeface="Encode Sans Semi Condensed SemiBold"/>
              <a:buNone/>
            </a:pPr>
            <a:r>
              <a:rPr b="0" i="0" lang="en-US" spc="-30" sz="3000" u="none" cap="none" strike="noStrike">
                <a:solidFill>
                  <a:srgbClr val="C9CFE0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476838" y="4214098"/>
            <a:ext cx="2057349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Clear handoffs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476838" y="4642644"/>
            <a:ext cx="2057349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Connect analysts, IT, and leadership around the same signal.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067573" y="3408958"/>
            <a:ext cx="2514537" cy="2839442"/>
          </a:xfrm>
          <a:prstGeom prst="roundRect">
            <a:avLst>
              <a:gd fmla="val 3500" name="adj"/>
            </a:avLst>
          </a:prstGeom>
          <a:solidFill>
            <a:srgbClr val="0E1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9296167" y="3721124"/>
            <a:ext cx="2057349" cy="40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3000"/>
              <a:buFont typeface="Encode Sans Semi Condensed SemiBold"/>
              <a:buNone/>
            </a:pPr>
            <a:r>
              <a:rPr b="0" i="0" lang="en-US" spc="-30" sz="3000" u="none" cap="none" strike="noStrike">
                <a:solidFill>
                  <a:srgbClr val="C9CFE0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296167" y="4214098"/>
            <a:ext cx="2057349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Operational foundation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9296167" y="4923234"/>
            <a:ext cx="2057349" cy="10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Create a base for measurable security operations as usage grows.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7839" y="6454175"/>
            <a:ext cx="403825" cy="4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609585" y="609600"/>
            <a:ext cx="53338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SAFE HANDLING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09585" y="925068"/>
            <a:ext cx="4724282" cy="145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Security protocols are visible in the product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09585" y="2545953"/>
            <a:ext cx="4724282" cy="1027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900"/>
              <a:buFont typeface="Fira Sans"/>
              <a:buNone/>
            </a:pPr>
            <a:r>
              <a:rPr b="0" i="0" lang="en-US" sz="190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product makes safe handling and explainability part of the interaction, not an afterthought.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09585" y="3761085"/>
            <a:ext cx="4724282" cy="1416546"/>
          </a:xfrm>
          <a:prstGeom prst="roundRect">
            <a:avLst>
              <a:gd fmla="val 6213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19130" y="4023023"/>
            <a:ext cx="4305192" cy="8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Prototype boundary: file analysis stays in the browser when possible, with no execution or upload implied by the prototype copy.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725" y="253600"/>
            <a:ext cx="5402474" cy="194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6857828" y="2512318"/>
            <a:ext cx="4724282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Analyze structure, not destination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857828" y="3024684"/>
            <a:ext cx="5333867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URL scanner never opens the URL.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57828" y="3677841"/>
            <a:ext cx="4724282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Separate control surfaces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857828" y="4190206"/>
            <a:ext cx="4724282" cy="59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Detection, severity, history, alerts, and settings remain explicit.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857828" y="5140920"/>
            <a:ext cx="4724282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Explain the result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857766" y="5653286"/>
            <a:ext cx="47244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Safe handling and explainability are product requirements.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6073" y="5965325"/>
            <a:ext cx="892675" cy="8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5759" y="6454175"/>
            <a:ext cx="1595950" cy="15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11047775" y="6508350"/>
            <a:ext cx="1143900" cy="2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7315017" y="0"/>
            <a:ext cx="4876800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E1EE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DCE1EE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ROADMAP DIRECTION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ncode Sans Semi Condensed SemiBold"/>
              <a:buNone/>
            </a:pPr>
            <a:r>
              <a:rPr b="0" i="0" lang="en-US" spc="-36" sz="36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Roadmap: from prototype to operational platform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Future capabilities are direction, not current functionality.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09585" y="2061666"/>
            <a:ext cx="82170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978D"/>
              </a:buClr>
              <a:buSzPts val="1650"/>
              <a:buFont typeface="Fira Sans SemiBold"/>
              <a:buNone/>
            </a:pPr>
            <a:r>
              <a:rPr b="0" i="0" lang="en-US" sz="1650" u="none" cap="none" strike="noStrike">
                <a:solidFill>
                  <a:srgbClr val="00978D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09585" y="2355056"/>
            <a:ext cx="3454314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09585" y="2499816"/>
            <a:ext cx="3454314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09585" y="2984877"/>
            <a:ext cx="3454314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Enrich detections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09585" y="3413423"/>
            <a:ext cx="3454314" cy="5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Add threat intelligence and actionable alert detail.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368691" y="2061666"/>
            <a:ext cx="8358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978D"/>
              </a:buClr>
              <a:buSzPts val="1650"/>
              <a:buFont typeface="Fira Sans SemiBold"/>
              <a:buNone/>
            </a:pPr>
            <a:r>
              <a:rPr b="0" i="0" lang="en-US" sz="1650" u="none" cap="none" strike="noStrike">
                <a:solidFill>
                  <a:srgbClr val="00978D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368691" y="2355056"/>
            <a:ext cx="3454314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368691" y="2499816"/>
            <a:ext cx="3454314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368691" y="2984877"/>
            <a:ext cx="3454314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Coordinate teams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368691" y="3413423"/>
            <a:ext cx="3454314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Add team workflows, case management, and integrations with existing security tools.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127797" y="2061666"/>
            <a:ext cx="8367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978D"/>
              </a:buClr>
              <a:buSzPts val="1650"/>
              <a:buFont typeface="Fira Sans SemiBold"/>
              <a:buNone/>
            </a:pPr>
            <a:r>
              <a:rPr b="0" i="0" lang="en-US" sz="1650" u="none" cap="none" strike="noStrike">
                <a:solidFill>
                  <a:srgbClr val="00978D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127797" y="2355056"/>
            <a:ext cx="3454314" cy="19050"/>
          </a:xfrm>
          <a:prstGeom prst="rect">
            <a:avLst/>
          </a:prstGeom>
          <a:solidFill>
            <a:srgbClr val="0097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8127797" y="2499816"/>
            <a:ext cx="3454314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ira San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Scale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127797" y="2984877"/>
            <a:ext cx="3454314" cy="28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Fira San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Operate with control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127797" y="3413423"/>
            <a:ext cx="3454314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9CFE0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Deepen geospatial correlation, reporting, policy controls, and enterprise administration.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09585" y="6037659"/>
            <a:ext cx="1158211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9B1CA"/>
              </a:buClr>
              <a:buSzPts val="1250"/>
              <a:buFont typeface="Fira Sans"/>
              <a:buNone/>
            </a:pPr>
            <a:r>
              <a:rPr b="0" i="0" lang="en-US" sz="1250" u="none" cap="none" strike="noStrike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The prototype establishes the investigation model. Production readiness comes through validated workflows, integrations, and control depth.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711182" y="660400"/>
            <a:ext cx="701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 Mono Medium"/>
              <a:buNone/>
            </a:pPr>
            <a:r>
              <a:rPr b="0" i="0" lang="en-US" spc="72" sz="1200" u="none" cap="none" strike="noStrike">
                <a:solidFill>
                  <a:srgbClr val="FFFFFF"/>
                </a:solidFill>
                <a:latin typeface="Overpass Mono Medium"/>
                <a:ea typeface="Overpass Mono Medium"/>
                <a:cs typeface="Overpass Mono Medium"/>
                <a:sym typeface="Overpass Mono Medium"/>
              </a:rPr>
              <a:t>DECISION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11182" y="2073199"/>
            <a:ext cx="6451439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Encode Sans Semi Condensed SemiBold"/>
              <a:buNone/>
            </a:pPr>
            <a:r>
              <a:rPr b="0" i="0" lang="en-US" spc="-44" sz="4400" u="none" cap="none" strike="noStrike">
                <a:solidFill>
                  <a:srgbClr val="FFFFFF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Make every suspicious signal easier to act on.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11182" y="3361134"/>
            <a:ext cx="6451439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Geo Cyber Threat Detective System brings scanning, severity, and review into one coherent experience.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11182" y="4274939"/>
            <a:ext cx="6451439" cy="59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Validate the highest-value workflows with security teams and define the path to production readiness.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11182" y="6037659"/>
            <a:ext cx="70102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Fira Sans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 credible foundation for proactive, explainable security operations.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5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9274" y="-1389600"/>
            <a:ext cx="4907627" cy="79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6464" y="6172775"/>
            <a:ext cx="685225" cy="6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2253b8d39e9902a2_1_0"/>
          <p:cNvSpPr txBox="1"/>
          <p:nvPr/>
        </p:nvSpPr>
        <p:spPr>
          <a:xfrm>
            <a:off x="10088275" y="5946975"/>
            <a:ext cx="49233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BY ABINGEO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239" name="Google Shape;239;h2253b8d39e9902a2_1_0"/>
          <p:cNvSpPr/>
          <p:nvPr/>
        </p:nvSpPr>
        <p:spPr>
          <a:xfrm>
            <a:off x="11004275" y="6602100"/>
            <a:ext cx="11874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h2253b8d39e9902a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6225" y="-51825"/>
            <a:ext cx="925450" cy="9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h2253b8d39e9902a2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33" y="0"/>
            <a:ext cx="12310208" cy="692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2026-10-09T05:37:56Z</dcterms:created>
</cp:coreProperties>
</file>
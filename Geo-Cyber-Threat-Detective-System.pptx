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Encode Sans Semi Condensed SemiBold"/>
      <p:regular r:id="rId201314"/>
    </p:embeddedFont>
    <p:embeddedFont>
      <p:font typeface="Fira Sans"/>
      <p:regular r:id="rId201315"/>
    </p:embeddedFont>
    <p:embeddedFont>
      <p:font typeface="Fira Sans SemiBold"/>
      <p:regular r:id="rId201316"/>
    </p:embeddedFont>
    <p:embeddedFont>
      <p:font typeface="Fira Sans Bold"/>
      <p:regular r:id="rId201317"/>
    </p:embeddedFont>
    <p:embeddedFont>
      <p:font typeface="Overpass Mono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051230"/>
          </a:solidFill>
          <a:ln/>
        </p:spPr>
      </p:sp>
      <p:sp>
        <p:nvSpPr>
          <p:cNvPr id="3" name="Text 1"/>
          <p:cNvSpPr/>
          <p:nvPr/>
        </p:nvSpPr>
        <p:spPr>
          <a:xfrm>
            <a:off x="711182" y="609600"/>
            <a:ext cx="660383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FFFFFF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SECURITY OPERATIONS · PROTOTYPE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182" y="2563856"/>
            <a:ext cx="6070448" cy="139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400" spc="-54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Geo Cyber Threat</a:t>
            </a:r>
            <a:endParaRPr lang="en-US" sz="54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5400" spc="-54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Detective System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11182" y="4096445"/>
            <a:ext cx="6603835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Detect suspicious activity before it becomes an incident.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11182" y="6088559"/>
            <a:ext cx="660383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practical security app for earlier signals, clearer severity, and safer investigation.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05123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304800"/>
            <a:ext cx="4571886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DCE1EE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THE OPERATING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5068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Security teams need earlier, clearer signals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76784"/>
            <a:ext cx="11582110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Threat data arrives everywhere. The decision still has to happen somewhere.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09585" y="4037806"/>
            <a:ext cx="3454314" cy="2210594"/>
          </a:xfrm>
          <a:prstGeom prst="roundRect">
            <a:avLst>
              <a:gd name="adj" fmla="val 3981"/>
            </a:avLst>
          </a:prstGeom>
          <a:noFill/>
          <a:ln w="25399">
            <a:solidFill>
              <a:srgbClr val="1999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578" y="4291806"/>
            <a:ext cx="294632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Inputs multiply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3578" y="4804172"/>
            <a:ext cx="2946326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Threat data arrives through files, emails, URLs, and websites.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368691" y="4037806"/>
            <a:ext cx="3454314" cy="2210594"/>
          </a:xfrm>
          <a:prstGeom prst="roundRect">
            <a:avLst>
              <a:gd name="adj" fmla="val 3981"/>
            </a:avLst>
          </a:prstGeom>
          <a:noFill/>
          <a:ln w="25399">
            <a:solidFill>
              <a:srgbClr val="1999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2684" y="4291806"/>
            <a:ext cx="294632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Context fragments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22684" y="4804172"/>
            <a:ext cx="2946326" cy="1190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Analysts need one place to triage risk, understand severity, and decide what to do next.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127797" y="4037806"/>
            <a:ext cx="3454314" cy="2210594"/>
          </a:xfrm>
          <a:prstGeom prst="roundRect">
            <a:avLst>
              <a:gd name="adj" fmla="val 3981"/>
            </a:avLst>
          </a:prstGeom>
          <a:noFill/>
          <a:ln w="25399">
            <a:solidFill>
              <a:srgbClr val="1999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1790" y="4291806"/>
            <a:ext cx="294632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Visibility lags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81790" y="4804172"/>
            <a:ext cx="2946326" cy="1190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For IT decision-makers, the gap is operational: too many checks, too little shared visibility.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09600"/>
            <a:ext cx="660383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DCE1EE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THE PRODUCT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925068"/>
            <a:ext cx="6095848" cy="9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One workspace for proactive threat investigation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1182" y="2061369"/>
            <a:ext cx="6095848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Move from isolated checks to a shared risk picture across inputs.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11182" y="4417219"/>
            <a:ext cx="1930352" cy="1881981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6" name="Text 4"/>
          <p:cNvSpPr/>
          <p:nvPr/>
        </p:nvSpPr>
        <p:spPr>
          <a:xfrm>
            <a:off x="939776" y="4621689"/>
            <a:ext cx="147316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Centralize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9776" y="5050234"/>
            <a:ext cx="1473163" cy="1045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Scanning and threat review in a single app experience.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793930" y="4417219"/>
            <a:ext cx="1930352" cy="1881981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9" name="Text 7"/>
          <p:cNvSpPr/>
          <p:nvPr/>
        </p:nvSpPr>
        <p:spPr>
          <a:xfrm>
            <a:off x="3022524" y="4621689"/>
            <a:ext cx="147316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Connect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022524" y="5050234"/>
            <a:ext cx="1473163" cy="784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Bring suspicious signals into one shared view.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876678" y="4417219"/>
            <a:ext cx="1930352" cy="1881981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12" name="Text 10"/>
          <p:cNvSpPr/>
          <p:nvPr/>
        </p:nvSpPr>
        <p:spPr>
          <a:xfrm>
            <a:off x="5105272" y="4621689"/>
            <a:ext cx="147316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Act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05272" y="5050234"/>
            <a:ext cx="1473163" cy="1045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Give teams a faster path from signal to informed action.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051230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304800"/>
            <a:ext cx="4267093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DCE1EE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FIRST MILE OF DEFENSE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5068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Key features cover the first mile of defense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2284710"/>
            <a:ext cx="2819329" cy="2561530"/>
          </a:xfrm>
          <a:prstGeom prst="rect">
            <a:avLst/>
          </a:prstGeom>
          <a:solidFill>
            <a:srgbClr val="0E1D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796" y="2462510"/>
            <a:ext cx="523862" cy="5238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7796" y="3174980"/>
            <a:ext cx="246373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File Scanner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77796" y="3603526"/>
            <a:ext cx="2463738" cy="522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Inspect local files with browser-side checks.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124122" y="2284710"/>
            <a:ext cx="2819329" cy="2561530"/>
          </a:xfrm>
          <a:prstGeom prst="rect">
            <a:avLst/>
          </a:prstGeom>
          <a:solidFill>
            <a:srgbClr val="0E1D4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917" y="2462510"/>
            <a:ext cx="523862" cy="523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01917" y="3174980"/>
            <a:ext cx="246373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URL Scanner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301917" y="3603526"/>
            <a:ext cx="2463738" cy="784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Analyze URL structure without opening the destination.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48244" y="2284710"/>
            <a:ext cx="2819329" cy="2561530"/>
          </a:xfrm>
          <a:prstGeom prst="rect">
            <a:avLst/>
          </a:prstGeom>
          <a:solidFill>
            <a:srgbClr val="0E1D4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039" y="2462510"/>
            <a:ext cx="523862" cy="523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26039" y="3174980"/>
            <a:ext cx="2463738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Email, website, ransomware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426039" y="3884116"/>
            <a:ext cx="2463738" cy="784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Extend the same investigation model across common attack surfaces.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9372366" y="2284710"/>
            <a:ext cx="2819329" cy="2561530"/>
          </a:xfrm>
          <a:prstGeom prst="rect">
            <a:avLst/>
          </a:prstGeom>
          <a:solidFill>
            <a:srgbClr val="0E1D45"/>
          </a:solidFill>
          <a:ln/>
        </p:spPr>
      </p:sp>
      <p:sp>
        <p:nvSpPr>
          <p:cNvPr id="17" name="Text 12"/>
          <p:cNvSpPr/>
          <p:nvPr/>
        </p:nvSpPr>
        <p:spPr>
          <a:xfrm>
            <a:off x="9550161" y="2867005"/>
            <a:ext cx="246373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Review and follow-up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9550161" y="3295551"/>
            <a:ext cx="2463738" cy="784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Threat Intel, history, alerts, and settings keep work connected.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0" y="5150941"/>
            <a:ext cx="12191695" cy="1707059"/>
          </a:xfrm>
          <a:prstGeom prst="rect">
            <a:avLst/>
          </a:prstGeom>
          <a:solidFill>
            <a:srgbClr val="05123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2" y="5449391"/>
            <a:ext cx="6743531" cy="11101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33400"/>
            <a:ext cx="1137891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DCE1EE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DETECTION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848868"/>
            <a:ext cx="10769331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Real-time detection turns inputs into risk signals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1182" y="1500584"/>
            <a:ext cx="11378915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transparent, explainable loop makes the result easier to trust and act on.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942952" y="2382242"/>
            <a:ext cx="1231770" cy="7620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6" name="Shape 4"/>
          <p:cNvSpPr/>
          <p:nvPr/>
        </p:nvSpPr>
        <p:spPr>
          <a:xfrm>
            <a:off x="3098722" y="2331541"/>
            <a:ext cx="152396" cy="17780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7" name="Shape 5"/>
          <p:cNvSpPr/>
          <p:nvPr/>
        </p:nvSpPr>
        <p:spPr>
          <a:xfrm>
            <a:off x="711182" y="2102941"/>
            <a:ext cx="634984" cy="6350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0097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2247" y="2236291"/>
            <a:ext cx="982340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900" dirty="0">
                <a:solidFill>
                  <a:srgbClr val="051230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711182" y="2821781"/>
            <a:ext cx="2463738" cy="1905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2967811"/>
            <a:ext cx="246373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Collect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1182" y="3396357"/>
            <a:ext cx="2463738" cy="522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file, URL, email, or website input enters the workflow.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479713" y="2382242"/>
            <a:ext cx="2463738" cy="7620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13" name="Shape 11"/>
          <p:cNvSpPr/>
          <p:nvPr/>
        </p:nvSpPr>
        <p:spPr>
          <a:xfrm>
            <a:off x="5867253" y="2331541"/>
            <a:ext cx="152396" cy="17780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14" name="Shape 12"/>
          <p:cNvSpPr/>
          <p:nvPr/>
        </p:nvSpPr>
        <p:spPr>
          <a:xfrm>
            <a:off x="3479713" y="2102941"/>
            <a:ext cx="634984" cy="6350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0097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8276" y="2236291"/>
            <a:ext cx="1007343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900" dirty="0">
                <a:solidFill>
                  <a:srgbClr val="051230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900" dirty="0"/>
          </a:p>
        </p:txBody>
      </p:sp>
      <p:sp>
        <p:nvSpPr>
          <p:cNvPr id="16" name="Shape 14"/>
          <p:cNvSpPr/>
          <p:nvPr/>
        </p:nvSpPr>
        <p:spPr>
          <a:xfrm>
            <a:off x="3479713" y="2821781"/>
            <a:ext cx="2463738" cy="1905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17" name="Text 15"/>
          <p:cNvSpPr/>
          <p:nvPr/>
        </p:nvSpPr>
        <p:spPr>
          <a:xfrm>
            <a:off x="3479713" y="2967811"/>
            <a:ext cx="246373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Analyze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79713" y="3396357"/>
            <a:ext cx="2463738" cy="522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appropriate analysis path runs against the input.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48244" y="2382242"/>
            <a:ext cx="2463738" cy="7620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20" name="Shape 18"/>
          <p:cNvSpPr/>
          <p:nvPr/>
        </p:nvSpPr>
        <p:spPr>
          <a:xfrm>
            <a:off x="8635784" y="2331541"/>
            <a:ext cx="152396" cy="17780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21" name="Shape 19"/>
          <p:cNvSpPr/>
          <p:nvPr/>
        </p:nvSpPr>
        <p:spPr>
          <a:xfrm>
            <a:off x="6248244" y="2102941"/>
            <a:ext cx="634984" cy="6350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0097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6113" y="2236291"/>
            <a:ext cx="1008831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900" dirty="0">
                <a:solidFill>
                  <a:srgbClr val="051230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900" dirty="0"/>
          </a:p>
        </p:txBody>
      </p:sp>
      <p:sp>
        <p:nvSpPr>
          <p:cNvPr id="23" name="Shape 21"/>
          <p:cNvSpPr/>
          <p:nvPr/>
        </p:nvSpPr>
        <p:spPr>
          <a:xfrm>
            <a:off x="6248244" y="2821781"/>
            <a:ext cx="2463738" cy="1905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24" name="Text 22"/>
          <p:cNvSpPr/>
          <p:nvPr/>
        </p:nvSpPr>
        <p:spPr>
          <a:xfrm>
            <a:off x="6248244" y="2967811"/>
            <a:ext cx="246373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Classify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248244" y="3396357"/>
            <a:ext cx="2463738" cy="784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result is normalized into severity bands from safe to critical.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9016774" y="2382242"/>
            <a:ext cx="1231770" cy="7620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27" name="Shape 25"/>
          <p:cNvSpPr/>
          <p:nvPr/>
        </p:nvSpPr>
        <p:spPr>
          <a:xfrm>
            <a:off x="9016774" y="2102941"/>
            <a:ext cx="634984" cy="635000"/>
          </a:xfrm>
          <a:prstGeom prst="ellipse">
            <a:avLst/>
          </a:prstGeom>
          <a:solidFill>
            <a:srgbClr val="FFFFFF"/>
          </a:solidFill>
          <a:ln w="38099">
            <a:solidFill>
              <a:srgbClr val="00978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25019" y="2236291"/>
            <a:ext cx="1027980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900" dirty="0">
                <a:solidFill>
                  <a:srgbClr val="051230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900" dirty="0"/>
          </a:p>
        </p:txBody>
      </p:sp>
      <p:sp>
        <p:nvSpPr>
          <p:cNvPr id="29" name="Shape 27"/>
          <p:cNvSpPr/>
          <p:nvPr/>
        </p:nvSpPr>
        <p:spPr>
          <a:xfrm>
            <a:off x="9016774" y="2821781"/>
            <a:ext cx="2463738" cy="1905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30" name="Text 28"/>
          <p:cNvSpPr/>
          <p:nvPr/>
        </p:nvSpPr>
        <p:spPr>
          <a:xfrm>
            <a:off x="9016774" y="2967811"/>
            <a:ext cx="246373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Surface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016774" y="3396357"/>
            <a:ext cx="2463738" cy="784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dashboard makes the result available for triage, history, and alerts.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711182" y="5528568"/>
            <a:ext cx="10769331" cy="821432"/>
          </a:xfrm>
          <a:prstGeom prst="roundRect">
            <a:avLst>
              <a:gd name="adj" fmla="val 10714"/>
            </a:avLst>
          </a:prstGeom>
          <a:solidFill>
            <a:srgbClr val="022349"/>
          </a:solidFill>
          <a:ln/>
        </p:spPr>
      </p:sp>
      <p:sp>
        <p:nvSpPr>
          <p:cNvPr id="33" name="Text 31"/>
          <p:cNvSpPr/>
          <p:nvPr/>
        </p:nvSpPr>
        <p:spPr>
          <a:xfrm>
            <a:off x="920727" y="5790505"/>
            <a:ext cx="10959826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Design principle:</a:t>
            </a:r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show how the signal was produced. Do not make detection a black box.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08000"/>
            <a:ext cx="1137891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DCE1EE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PRODUCT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823468"/>
            <a:ext cx="10769331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The interface makes investigation feel immediate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1182" y="1475184"/>
            <a:ext cx="11378915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Common scans start from the dashboard, then open into focused analysis surfaces.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0" y="3429000"/>
            <a:ext cx="5943451" cy="1822549"/>
          </a:xfrm>
          <a:prstGeom prst="rect">
            <a:avLst/>
          </a:prstGeom>
          <a:solidFill>
            <a:srgbClr val="0512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96" y="3581400"/>
            <a:ext cx="5638659" cy="1176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396" y="4888409"/>
            <a:ext cx="57910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File Scanner · choose a file and analyze it locally in the browser.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48244" y="3429000"/>
            <a:ext cx="5943451" cy="1822549"/>
          </a:xfrm>
          <a:prstGeom prst="rect">
            <a:avLst/>
          </a:prstGeom>
          <a:solidFill>
            <a:srgbClr val="05123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640" y="3581400"/>
            <a:ext cx="5638659" cy="11764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640" y="4888409"/>
            <a:ext cx="57910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URL Scanner · submit a URL for structural analysis without opening it.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DCE1EE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BUYER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5068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Buyers get visibility without adding workflow friction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76784"/>
            <a:ext cx="11582110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value is operational: faster first-pass decisions and a shared language for risk.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09585" y="3408958"/>
            <a:ext cx="2514537" cy="2839442"/>
          </a:xfrm>
          <a:prstGeom prst="roundRect">
            <a:avLst>
              <a:gd name="adj" fmla="val 3500"/>
            </a:avLst>
          </a:prstGeom>
          <a:solidFill>
            <a:srgbClr val="0E1D45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721124"/>
            <a:ext cx="2057349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30" kern="100" dirty="0">
                <a:solidFill>
                  <a:srgbClr val="C9CFE0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38179" y="4214098"/>
            <a:ext cx="205734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Faster triage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8179" y="4642644"/>
            <a:ext cx="2057349" cy="784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Speed up first-pass review for common suspicious inputs.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428914" y="3408958"/>
            <a:ext cx="2514537" cy="2839442"/>
          </a:xfrm>
          <a:prstGeom prst="roundRect">
            <a:avLst>
              <a:gd name="adj" fmla="val 3500"/>
            </a:avLst>
          </a:prstGeom>
          <a:solidFill>
            <a:srgbClr val="0E1D45"/>
          </a:solidFill>
          <a:ln/>
        </p:spPr>
      </p:sp>
      <p:sp>
        <p:nvSpPr>
          <p:cNvPr id="10" name="Text 8"/>
          <p:cNvSpPr/>
          <p:nvPr/>
        </p:nvSpPr>
        <p:spPr>
          <a:xfrm>
            <a:off x="3657509" y="3721124"/>
            <a:ext cx="2057349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30" kern="100" dirty="0">
                <a:solidFill>
                  <a:srgbClr val="C9CFE0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509" y="4214098"/>
            <a:ext cx="205734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Shared severity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509" y="4642644"/>
            <a:ext cx="2057349" cy="522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 one language, from safe to critical.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48244" y="3408958"/>
            <a:ext cx="2514537" cy="2839442"/>
          </a:xfrm>
          <a:prstGeom prst="roundRect">
            <a:avLst>
              <a:gd name="adj" fmla="val 3500"/>
            </a:avLst>
          </a:prstGeom>
          <a:solidFill>
            <a:srgbClr val="0E1D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76838" y="3721124"/>
            <a:ext cx="2057349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30" kern="100" dirty="0">
                <a:solidFill>
                  <a:srgbClr val="C9CFE0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76838" y="4214098"/>
            <a:ext cx="205734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Clear handoffs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76838" y="4642644"/>
            <a:ext cx="2057349" cy="784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Connect analysts, IT, and leadership around the same signal.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067573" y="3408958"/>
            <a:ext cx="2514537" cy="2839442"/>
          </a:xfrm>
          <a:prstGeom prst="roundRect">
            <a:avLst>
              <a:gd name="adj" fmla="val 3500"/>
            </a:avLst>
          </a:prstGeom>
          <a:solidFill>
            <a:srgbClr val="0E1D45"/>
          </a:solidFill>
          <a:ln/>
        </p:spPr>
      </p:sp>
      <p:sp>
        <p:nvSpPr>
          <p:cNvPr id="18" name="Text 16"/>
          <p:cNvSpPr/>
          <p:nvPr/>
        </p:nvSpPr>
        <p:spPr>
          <a:xfrm>
            <a:off x="9296167" y="3721124"/>
            <a:ext cx="2057349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30" kern="100" dirty="0">
                <a:solidFill>
                  <a:srgbClr val="C9CFE0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296167" y="4214098"/>
            <a:ext cx="2057349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Operational foundation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296167" y="4923234"/>
            <a:ext cx="2057349" cy="1045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Create a base for measurable security operations as usage grows.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3338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DCE1EE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SAFE HANDLING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5068"/>
            <a:ext cx="4724282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Security protocols are visible in the product 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545953"/>
            <a:ext cx="4724282" cy="102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product makes safe handling and explainability part of the interaction, not an afterthought.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09585" y="3761085"/>
            <a:ext cx="4724282" cy="1416546"/>
          </a:xfrm>
          <a:prstGeom prst="roundRect">
            <a:avLst>
              <a:gd name="adj" fmla="val 6213"/>
            </a:avLst>
          </a:prstGeom>
          <a:solidFill>
            <a:srgbClr val="183A13"/>
          </a:solidFill>
          <a:ln/>
        </p:spPr>
      </p:sp>
      <p:sp>
        <p:nvSpPr>
          <p:cNvPr id="6" name="Text 4"/>
          <p:cNvSpPr/>
          <p:nvPr/>
        </p:nvSpPr>
        <p:spPr>
          <a:xfrm>
            <a:off x="819130" y="4023023"/>
            <a:ext cx="4305192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Prototype boundary: file analysis stays in the browser when possible, with no execution or upload implied by the prototype copy.</a:t>
            </a:r>
            <a:endParaRPr lang="en-US" sz="16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28" y="609600"/>
            <a:ext cx="4724282" cy="15471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7828" y="2512318"/>
            <a:ext cx="4724282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Analyze structure, not destination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57828" y="3024684"/>
            <a:ext cx="5333867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URL scanner never opens the URL.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857828" y="3677841"/>
            <a:ext cx="4724282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Separate control surfaces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57828" y="4190206"/>
            <a:ext cx="4724282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Detection, severity, history, alerts, and settings remain explicit.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857828" y="5140920"/>
            <a:ext cx="4724282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Explain the result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857828" y="5653286"/>
            <a:ext cx="4724282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Safe handling and explainability are product requirements.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DCE1EE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ROADMAP DIRECTION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5068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Roadmap: from prototype to operational platform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76784"/>
            <a:ext cx="11582110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Future capabilities are direction, not current functionality.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09585" y="2061666"/>
            <a:ext cx="8217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00978D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09585" y="2355056"/>
            <a:ext cx="3454314" cy="1905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499816"/>
            <a:ext cx="345431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Next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09585" y="2984877"/>
            <a:ext cx="345431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Enrich detections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9585" y="3413423"/>
            <a:ext cx="3454314" cy="522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 threat intelligence and actionable alert detail.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68691" y="2061666"/>
            <a:ext cx="83589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00978D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368691" y="2355056"/>
            <a:ext cx="3454314" cy="1905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12" name="Text 10"/>
          <p:cNvSpPr/>
          <p:nvPr/>
        </p:nvSpPr>
        <p:spPr>
          <a:xfrm>
            <a:off x="4368691" y="2499816"/>
            <a:ext cx="345431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68691" y="2984877"/>
            <a:ext cx="345431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Coordinate teams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368691" y="3413423"/>
            <a:ext cx="3454314" cy="784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 team workflows, case management, and integrations with existing security tools.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27797" y="2061666"/>
            <a:ext cx="8367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00978D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127797" y="2355056"/>
            <a:ext cx="3454314" cy="1905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17" name="Text 15"/>
          <p:cNvSpPr/>
          <p:nvPr/>
        </p:nvSpPr>
        <p:spPr>
          <a:xfrm>
            <a:off x="8127797" y="2499816"/>
            <a:ext cx="345431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Scale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27797" y="2984877"/>
            <a:ext cx="345431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Operate with control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27797" y="3413423"/>
            <a:ext cx="3454314" cy="784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Deepen geospatial correlation, reporting, policy controls, and enterprise administration.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09585" y="6037659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B1C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prototype establishes the investigation model. Production readiness comes through validated workflows, integrations, and control depth.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21407" cy="6858000"/>
          </a:xfrm>
          <a:prstGeom prst="rect">
            <a:avLst/>
          </a:prstGeom>
          <a:solidFill>
            <a:srgbClr val="051230"/>
          </a:solidFill>
          <a:ln/>
        </p:spPr>
      </p:sp>
      <p:sp>
        <p:nvSpPr>
          <p:cNvPr id="3" name="Text 1"/>
          <p:cNvSpPr/>
          <p:nvPr/>
        </p:nvSpPr>
        <p:spPr>
          <a:xfrm>
            <a:off x="711182" y="660400"/>
            <a:ext cx="70102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FFFFFF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DECISION POINT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182" y="2073199"/>
            <a:ext cx="6451439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44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Make every suspicious signal easier to act on.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11182" y="3361134"/>
            <a:ext cx="6451439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Geo Cyber Threat Detective System brings scanning, severity, and review into one coherent experience.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11182" y="4274939"/>
            <a:ext cx="6451439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Validate the highest-value workflows with security teams and define the path to production readiness.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11182" y="6037659"/>
            <a:ext cx="70102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credible foundation for proactive, explainable security operations.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05123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6199" y="304800"/>
            <a:ext cx="3860703" cy="624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2026-10-09T05:37:56Z</dcterms:created>
  <dcterms:modified xsi:type="dcterms:W3CDTF">2026-10-09T05:37:56Z</dcterms:modified>
</cp:coreProperties>
</file>